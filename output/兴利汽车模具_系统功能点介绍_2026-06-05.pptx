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 Master"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E8EDC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731520" y="822960"/>
            <a:ext cx="7498080" cy="12801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/>
            <a:r>
              <a:rPr lang="zh-CN" sz="30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兴利汽车模具数字化管理系统</a:t>
            </a:r>
            <a:endParaRPr lang="zh-CN" sz="3000"/>
          </a:p>
          <a:p>
            <a:pPr/>
            <a:r>
              <a:rPr lang="zh-CN" sz="2000" dirty="0" smtClean="0">
                <a:solidFill>
                  <a:srgbClr val="5F84A6"/>
                </a:solidFill>
                <a:latin typeface="Microsoft YaHei"/>
                <a:ea typeface="Microsoft YaHei"/>
              </a:rPr>
              <a:t>当前设计功能点介绍</a:t>
            </a:r>
            <a:endParaRPr lang="zh-CN" sz="2000"/>
          </a:p>
        </p:txBody>
      </p:sp>
      <p:sp>
        <p:nvSpPr>
          <p:cNvPr id="4" name="Sub"/>
          <p:cNvSpPr txBox="1"/>
          <p:nvPr/>
        </p:nvSpPr>
        <p:spPr>
          <a:xfrm>
            <a:off x="749808" y="2331720"/>
            <a:ext cx="7132320" cy="6400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zh-CN" sz="1400" dirty="0" smtClean="0">
                <a:solidFill>
                  <a:srgbClr val="6D8AA8"/>
                </a:solidFill>
                <a:latin typeface="Microsoft YaHei"/>
                <a:ea typeface="Microsoft YaHei"/>
              </a:rPr>
              <a:t>基于当前代码、管理后台页面与移动端页面梳理</a:t>
            </a:r>
            <a:endParaRPr lang="zh-CN" sz="1400"/>
          </a:p>
          <a:p>
            <a:pPr/>
            <a:r>
              <a:rPr lang="zh-CN" sz="1400" dirty="0" smtClean="0">
                <a:solidFill>
                  <a:srgbClr val="6D8AA8"/>
                </a:solidFill>
                <a:latin typeface="Microsoft YaHei"/>
                <a:ea typeface="Microsoft YaHei"/>
              </a:rPr>
              <a:t>范围覆盖：管理员后台、员工端、6S闭环、反馈、报餐、投票、培训、权限与待办</a:t>
            </a:r>
            <a:endParaRPr lang="zh-CN" sz="1400"/>
          </a:p>
        </p:txBody>
      </p:sp>
      <p:sp>
        <p:nvSpPr>
          <p:cNvPr id="5" name="Card"/>
          <p:cNvSpPr txBox="0"/>
          <p:nvPr/>
        </p:nvSpPr>
        <p:spPr>
          <a:xfrm>
            <a:off x="8138160" y="868680"/>
            <a:ext cx="3154680" cy="443484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9EAFB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讲解建议</a:t>
            </a:r>
            <a:endParaRPr lang="zh-CN" sz="16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1. 先讲系统定位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2. 再讲后台模块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3. 重点展开 6S 管理闭环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4. 最后讲权限、提醒与后续规划</a:t>
            </a:r>
            <a:endParaRPr lang="zh-CN" sz="1400"/>
          </a:p>
          <a:p>
            <a:pPr/>
            <a:r>
              <a:rPr lang="zh-CN" sz="1200" dirty="0" smtClean="0">
                <a:solidFill>
                  <a:srgbClr val="4C6782"/>
                </a:solidFill>
                <a:latin typeface="Microsoft YaHei"/>
                <a:ea typeface="Microsoft YaHei"/>
              </a:rPr>
              <a:t/>
            </a:r>
          </a:p>
          <a:p>
            <a:pPr/>
            <a:r>
              <a:rPr lang="zh-CN" sz="1200" dirty="0" smtClean="0">
                <a:solidFill>
                  <a:srgbClr val="7C97B3"/>
                </a:solidFill>
                <a:latin typeface="Microsoft YaHei"/>
                <a:ea typeface="Microsoft YaHei"/>
              </a:rPr>
              <a:t>版本日期：2026-06-05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56A6E7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640080" y="384048"/>
            <a:ext cx="502920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/>
            <a:r>
              <a:rPr lang="zh-CN" sz="22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1. 系统定位与使用角色</a:t>
            </a:r>
            <a:endParaRPr lang="zh-CN" sz="2200"/>
          </a:p>
        </p:txBody>
      </p:sp>
      <p:sp>
        <p:nvSpPr>
          <p:cNvPr id="4" name="Card1"/>
          <p:cNvSpPr txBox="0"/>
          <p:nvPr/>
        </p:nvSpPr>
        <p:spPr>
          <a:xfrm>
            <a:off x="640080" y="1097280"/>
            <a:ext cx="35661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7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系统定位</a:t>
            </a:r>
            <a:endParaRPr lang="zh-CN" sz="1700"/>
          </a:p>
          <a:p>
            <a:pPr/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覆盖企业日常管理、员工服务与现场 6S 闭环。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当前已形成“后台管理 + 员工移动端 + 消息提醒”的一体化结构。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适合现场管理、行政流程和数据留痕同步推进。</a:t>
            </a:r>
            <a:endParaRPr lang="zh-CN" sz="1400"/>
          </a:p>
        </p:txBody>
      </p:sp>
      <p:sp>
        <p:nvSpPr>
          <p:cNvPr id="5" name="Card2"/>
          <p:cNvSpPr txBox="0"/>
          <p:nvPr/>
        </p:nvSpPr>
        <p:spPr>
          <a:xfrm>
            <a:off x="4297680" y="1097280"/>
            <a:ext cx="32461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7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使用角色</a:t>
            </a:r>
            <a:endParaRPr lang="zh-CN" sz="1700"/>
          </a:p>
          <a:p>
            <a:pPr marL="228600" indent="-228600">
              <a:buChar char="•"/>
            </a:pPr>
            <a:r>
              <a:rPr lang="zh-CN" sz="1450" b="1" dirty="0" smtClean="0">
                <a:solidFill>
                  <a:srgbClr val="24476E"/>
                </a:solidFill>
                <a:latin typeface="Microsoft YaHei"/>
                <a:ea typeface="Microsoft YaHei"/>
              </a:rPr>
              <a:t>管理员</a:t>
            </a:r>
            <a:endParaRPr lang="zh-CN" sz="1450"/>
          </a:p>
          <a:p>
            <a:pPr/>
            <a:r>
              <a:rPr lang="zh-CN" sz="1350" dirty="0" smtClean="0">
                <a:solidFill>
                  <a:srgbClr val="4C6782"/>
                </a:solidFill>
                <a:latin typeface="Microsoft YaHei"/>
                <a:ea typeface="Microsoft YaHei"/>
              </a:rPr>
              <a:t>负责后台配置、审批、统计、文件与权限管理。</a:t>
            </a:r>
            <a:endParaRPr lang="zh-CN" sz="1350"/>
          </a:p>
          <a:p>
            <a:pPr marL="228600" indent="-228600">
              <a:buChar char="•"/>
            </a:pPr>
            <a:r>
              <a:rPr lang="zh-CN" sz="1450" b="1" dirty="0" smtClean="0">
                <a:solidFill>
                  <a:srgbClr val="24476E"/>
                </a:solidFill>
                <a:latin typeface="Microsoft YaHei"/>
                <a:ea typeface="Microsoft YaHei"/>
              </a:rPr>
              <a:t>员工 / 学生</a:t>
            </a:r>
            <a:endParaRPr lang="zh-CN" sz="1450"/>
          </a:p>
          <a:p>
            <a:pPr/>
            <a:r>
              <a:rPr lang="zh-CN" sz="1350" dirty="0" smtClean="0">
                <a:solidFill>
                  <a:srgbClr val="4C6782"/>
                </a:solidFill>
                <a:latin typeface="Microsoft YaHei"/>
                <a:ea typeface="Microsoft YaHei"/>
              </a:rPr>
              <a:t>通过工号+姓名进入员工端，使用报餐、培训、投票、反馈、待办等功能。</a:t>
            </a:r>
            <a:endParaRPr lang="zh-CN" sz="1350"/>
          </a:p>
        </p:txBody>
      </p:sp>
      <p:sp>
        <p:nvSpPr>
          <p:cNvPr id="6" name="Card3"/>
          <p:cNvSpPr txBox="0"/>
          <p:nvPr/>
        </p:nvSpPr>
        <p:spPr>
          <a:xfrm>
            <a:off x="7726680" y="1097280"/>
            <a:ext cx="2743200" cy="438912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7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数据基础</a:t>
            </a:r>
            <a:endParaRPr lang="zh-CN" sz="17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员工表 staff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学生名册 student_roster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6S 记录与审核日志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通知 / 待办 / 权限配置</a:t>
            </a:r>
            <a:endParaRPr 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5CAFE2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640080" y="384048"/>
            <a:ext cx="548640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/>
            <a:r>
              <a:rPr lang="zh-CN" sz="22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2. 管理员后台功能模块</a:t>
            </a:r>
            <a:endParaRPr lang="zh-CN" sz="2200"/>
          </a:p>
        </p:txBody>
      </p:sp>
      <p:sp>
        <p:nvSpPr>
          <p:cNvPr id="4" name="Body"/>
          <p:cNvSpPr txBox="0"/>
          <p:nvPr/>
        </p:nvSpPr>
        <p:spPr>
          <a:xfrm>
            <a:off x="685800" y="1005840"/>
            <a:ext cx="109728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后台首页入口模块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员工管理：员工资料、部门、状态、基础数据维护。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培训管理：试卷、考试记录、学习任务、成绩统计。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报餐系统：活动、菜单、统计、员工报餐记录。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投票系统：活动创建、投票结果、匿名/非匿名统计。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6S管理：曝光、整改、复核、汇总看板、案例查看。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权限管理：模块权限、6S 权限、文件权限、批量导入。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文件管理：上传、下载、批量文件管理、权限约束。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个人待办 / 站内消息 / 问题反馈：构成后台运营协同能力。</a:t>
            </a:r>
            <a:endParaRPr 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64B5C9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640080" y="384048"/>
            <a:ext cx="530352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/>
            <a:r>
              <a:rPr lang="zh-CN" sz="22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3. 员工端与移动端能力</a:t>
            </a:r>
            <a:endParaRPr lang="zh-CN" sz="2200"/>
          </a:p>
        </p:txBody>
      </p:sp>
      <p:sp>
        <p:nvSpPr>
          <p:cNvPr id="4" name="Left"/>
          <p:cNvSpPr txBox="0"/>
          <p:nvPr/>
        </p:nvSpPr>
        <p:spPr>
          <a:xfrm>
            <a:off x="685800" y="1051560"/>
            <a:ext cx="51663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员工登录与首页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工号 + 姓名登录，兼容正式员工与实训生。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员工首页集成报餐、培训、投票、反馈、待办等入口。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员工普通页面支持 7 天登录有效期。</a:t>
            </a:r>
            <a:endParaRPr lang="zh-CN" sz="1400"/>
          </a:p>
        </p:txBody>
      </p:sp>
      <p:sp>
        <p:nvSpPr>
          <p:cNvPr id="5" name="Right"/>
          <p:cNvSpPr txBox="0"/>
          <p:nvPr/>
        </p:nvSpPr>
        <p:spPr>
          <a:xfrm>
            <a:off x="6035040" y="1051560"/>
            <a:ext cx="5120640" cy="502920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模块级访问控制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6S管理 / 我的待办 支持独立二次验证。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同设备、同一天首次进入时，可要求管理员密码验证。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6S任务页面按 7 天员工登录态管理，不强制当天二次密码。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移动端页面已覆盖 6S 列表、6S 详情、6S 任务、待办等关键页面。</a:t>
            </a:r>
            <a:endParaRPr 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48A2E2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640080" y="384048"/>
            <a:ext cx="585216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/>
            <a:r>
              <a:rPr lang="zh-CN" sz="22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4. 6S 管理闭环功能点</a:t>
            </a:r>
            <a:endParaRPr lang="zh-CN" sz="2200"/>
          </a:p>
        </p:txBody>
      </p:sp>
      <p:sp>
        <p:nvSpPr>
          <p:cNvPr id="4" name="Flow"/>
          <p:cNvSpPr txBox="0"/>
          <p:nvPr/>
        </p:nvSpPr>
        <p:spPr>
          <a:xfrm>
            <a:off x="640080" y="1005840"/>
            <a:ext cx="109728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流程闭环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曝光创建：区域、问题描述、责任人、检查日期、截止日期、整改前照片。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责任人整改：上传整改后照片，提交进入待审核。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管理员复核整改：待整改阶段可直接上传整改后照片并执行已达标 / 未达标。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未达标追踪：累计打回次数、历史整改照片、审核意见留痕。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汇总能力：6S 列表、运行汇报、案例查看、曝光趋势。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协同能力：管理员之间共享近 15 天 6S 数据，移动端和 PC 端逻辑同步。</a:t>
            </a:r>
            <a:endParaRPr 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4DB1E1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640080" y="384048"/>
            <a:ext cx="640080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/>
            <a:r>
              <a:rPr lang="zh-CN" sz="22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5. 权限、会话与提醒机制</a:t>
            </a:r>
            <a:endParaRPr lang="zh-CN" sz="2200"/>
          </a:p>
        </p:txBody>
      </p:sp>
      <p:sp>
        <p:nvSpPr>
          <p:cNvPr id="4" name="Body"/>
          <p:cNvSpPr txBox="0"/>
          <p:nvPr/>
        </p:nvSpPr>
        <p:spPr>
          <a:xfrm>
            <a:off x="685800" y="1051560"/>
            <a:ext cx="109728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管理员登录态</a:t>
            </a:r>
            <a:endParaRPr lang="zh-CN" sz="16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管理员后台登录成功后，当天内免再次输入密码。</a:t>
            </a:r>
            <a:endParaRPr lang="zh-CN" sz="1400"/>
          </a:p>
          <a:p>
            <a:pPr/>
            <a:r>
              <a:rPr lang="zh-CN" sz="16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员工登录态</a:t>
            </a:r>
            <a:endParaRPr lang="zh-CN" sz="16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员工普通页面 7 天有效；过期后自动返回登录页。</a:t>
            </a:r>
            <a:endParaRPr lang="zh-CN" sz="1400"/>
          </a:p>
          <a:p>
            <a:pPr/>
            <a:r>
              <a:rPr lang="zh-CN" sz="16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模块级验证</a:t>
            </a:r>
            <a:endParaRPr lang="zh-CN" sz="16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对指定模块单独验证管理员密码，支持同设备当天免重复验证。</a:t>
            </a:r>
            <a:endParaRPr lang="zh-CN" sz="1400"/>
          </a:p>
          <a:p>
            <a:pPr/>
            <a:r>
              <a:rPr lang="zh-CN" sz="160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提醒与通知</a:t>
            </a:r>
            <a:endParaRPr lang="zh-CN" sz="16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6S 审核、整改、提交、复核等关键节点可生成站内通知与界面提醒。</a:t>
            </a:r>
            <a:endParaRPr lang="zh-CN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6EBCD8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640080" y="384048"/>
            <a:ext cx="6035040" cy="50292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/>
            <a:r>
              <a:rPr lang="zh-CN" sz="22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6. 运营支撑与协同能力</a:t>
            </a:r>
            <a:endParaRPr lang="zh-CN" sz="2200"/>
          </a:p>
        </p:txBody>
      </p:sp>
      <p:sp>
        <p:nvSpPr>
          <p:cNvPr id="4" name="Left"/>
          <p:cNvSpPr txBox="0"/>
          <p:nvPr/>
        </p:nvSpPr>
        <p:spPr>
          <a:xfrm>
            <a:off x="685800" y="1051560"/>
            <a:ext cx="525780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问题反馈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用户提交问题、管理员回复、处理状态跟踪。</a:t>
            </a:r>
            <a:endParaRPr lang="zh-CN" sz="1400"/>
          </a:p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个人待办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记录个人事项、分派任务、查看到期和逾期。</a:t>
            </a:r>
            <a:endParaRPr lang="zh-CN" sz="1400"/>
          </a:p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站内消息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后台首页集中显示未读、任务消息和业务提醒。</a:t>
            </a:r>
            <a:endParaRPr lang="zh-CN" sz="1400"/>
          </a:p>
        </p:txBody>
      </p:sp>
      <p:sp>
        <p:nvSpPr>
          <p:cNvPr id="5" name="Right"/>
          <p:cNvSpPr txBox="0"/>
          <p:nvPr/>
        </p:nvSpPr>
        <p:spPr>
          <a:xfrm>
            <a:off x="5897880" y="1051560"/>
            <a:ext cx="5257800" cy="498348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导入导出与配置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支持 CSV / Excel 导出、区域模板、权限批量导入。</a:t>
            </a:r>
            <a:endParaRPr lang="zh-CN" sz="1400"/>
          </a:p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文件管理与共享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支持文件权限、公共/个人文件管理与 SMB 同步能力。</a:t>
            </a:r>
            <a:endParaRPr lang="zh-CN" sz="1400"/>
          </a:p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后台首页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已具备系统入口、趋势图、业务概览、提醒与个人工作台等总控能力。</a:t>
            </a:r>
            <a:endParaRPr lang="zh-CN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0"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3E8EDC"/>
          </a:solidFill>
          <a:ln>
            <a:noFill/>
          </a:ln>
        </p:spPr>
        <p:txBody>
          <a:bodyPr wrap="square" lIns="91440" tIns="68580" rIns="91440" bIns="68580" anchor="t"/>
          <a:lstStyle/>
          <a:p>
            <a:endParaRPr lang="zh-CN"/>
          </a:p>
        </p:txBody>
      </p:sp>
      <p:sp>
        <p:nvSpPr>
          <p:cNvPr id="3" name="Title"/>
          <p:cNvSpPr txBox="1"/>
          <p:nvPr/>
        </p:nvSpPr>
        <p:spPr>
          <a:xfrm>
            <a:off x="640080" y="502920"/>
            <a:ext cx="6583680" cy="594360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68580" rIns="91440" bIns="68580" anchor="t"/>
          <a:lstStyle/>
          <a:p>
            <a:pPr/>
            <a:r>
              <a:rPr lang="zh-CN" sz="2200" b="1" dirty="0" smtClean="0">
                <a:solidFill>
                  <a:srgbClr val="1F4E79"/>
                </a:solidFill>
                <a:latin typeface="Microsoft YaHei"/>
                <a:ea typeface="Microsoft YaHei"/>
              </a:rPr>
              <a:t>7. 当前阶段价值与后续可优化方向</a:t>
            </a:r>
            <a:endParaRPr lang="zh-CN" sz="2200"/>
          </a:p>
        </p:txBody>
      </p:sp>
      <p:sp>
        <p:nvSpPr>
          <p:cNvPr id="4" name="Left"/>
          <p:cNvSpPr txBox="0"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当前价值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已经形成“业务功能 + 移动端 + 权限控制 + 留痕追踪”的完整管理底座。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6S 管理从曝光、整改、复核到汇总已具备完整闭环。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后台首页已可作为管理驾驶舱的基础版本。</a:t>
            </a:r>
            <a:endParaRPr lang="zh-CN" sz="1400"/>
          </a:p>
        </p:txBody>
      </p:sp>
      <p:sp>
        <p:nvSpPr>
          <p:cNvPr id="5" name="Right"/>
          <p:cNvSpPr txBox="0"/>
          <p:nvPr/>
        </p:nvSpPr>
        <p:spPr>
          <a:xfrm>
            <a:off x="5897880" y="1325880"/>
            <a:ext cx="5212080" cy="4480560"/>
          </a:xfrm>
          <a:prstGeom prst="roundRect">
            <a:avLst/>
          </a:prstGeom>
          <a:solidFill>
            <a:srgbClr val="EAF4FF"/>
          </a:solidFill>
          <a:ln w="12700">
            <a:solidFill>
              <a:srgbClr val="D8E8F8"/>
            </a:solidFill>
          </a:ln>
        </p:spPr>
        <p:txBody>
          <a:bodyPr wrap="square" lIns="91440" tIns="68580" rIns="91440" bIns="68580" anchor="t"/>
          <a:lstStyle/>
          <a:p>
            <a:pPr/>
            <a:r>
              <a:rPr lang="zh-CN" sz="1650" b="1" dirty="0" smtClean="0">
                <a:solidFill>
                  <a:srgbClr val="2E6C97"/>
                </a:solidFill>
                <a:latin typeface="Microsoft YaHei"/>
                <a:ea typeface="Microsoft YaHei"/>
              </a:rPr>
              <a:t>后续建议</a:t>
            </a:r>
            <a:endParaRPr lang="zh-CN" sz="165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继续优化 dashboard 的布局层级与视觉识别度。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强化 6S 统计分析，如达标率、逾期率、区域排名。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打通更多跨模块待处理中心，让消息、待办、反馈更集中。</a:t>
            </a:r>
            <a:endParaRPr lang="zh-CN" sz="1400"/>
          </a:p>
          <a:p>
            <a:pPr marL="228600" indent="-228600">
              <a:buChar char="•"/>
            </a:pPr>
            <a:r>
              <a:rPr lang="zh-CN" sz="1400" dirty="0" smtClean="0">
                <a:solidFill>
                  <a:srgbClr val="4C6782"/>
                </a:solidFill>
                <a:latin typeface="Microsoft YaHei"/>
                <a:ea typeface="Microsoft YaHei"/>
              </a:rPr>
              <a:t>完善汇报演示材料，形成对外展示和内部培训统一版本。</a:t>
            </a:r>
            <a:endParaRPr lang="zh-C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">
      <a:dk1>
        <a:srgbClr val="000000"/>
      </a:dk1>
      <a:lt1>
        <a:srgbClr val="FFFFFF"/>
      </a:lt1>
      <a:dk2>
        <a:srgbClr val="1F4E79"/>
      </a:dk2>
      <a:lt2>
        <a:srgbClr val="EAF4FF"/>
      </a:lt2>
      <a:accent1>
        <a:srgbClr val="3E8EDC"/>
      </a:accent1>
      <a:accent2>
        <a:srgbClr val="56A6E7"/>
      </a:accent2>
      <a:accent3>
        <a:srgbClr val="5CAFE2"/>
      </a:accent3>
      <a:accent4>
        <a:srgbClr val="64B5C9"/>
      </a:accent4>
      <a:accent5>
        <a:srgbClr val="6EBCD8"/>
      </a:accent5>
      <a:accent6>
        <a:srgbClr val="7FCAE4"/>
      </a:accent6>
      <a:hlink>
        <a:srgbClr val="0563C1"/>
      </a:hlink>
      <a:folHlink>
        <a:srgbClr val="954F72"/>
      </a:folHlink>
    </a:clrScheme>
    <a:fontScheme name="Custom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ustom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On-screen Show (16:9)</PresentationFormat>
  <Slides>8</Slides>
  <Notes>0</Notes>
  <HiddenSlides>0</HiddenSlides>
  <MMClips>0</MMClips>
  <ScaleCrop>false</ScaleCrop>
  <Company>兴利汽车模具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兴利汽车模具系统功能点介绍</dc:title>
  <dc:creator>OpenAI Codex</dc:creator>
  <cp:lastModifiedBy>OpenAI Codex</cp:lastModifiedBy>
  <dcterms:created xsi:type="dcterms:W3CDTF">2026-06-05T00:26:44.298Z</dcterms:created>
  <dcterms:modified xsi:type="dcterms:W3CDTF">2026-06-05T00:26:44.298Z</dcterms:modified>
</cp:coreProperties>
</file>